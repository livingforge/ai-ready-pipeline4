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3.xml" ContentType="application/vnd.openxmlformats-officedocument.presentationml.comments+xml"/>
  <Override PartName="/ppt/comments/comment7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鈴木（PMO）" initials="" lastIdx="1" clrIdx="0"/>
  <p:cmAuthor id="2" name="高橋（インフラ）" initials="" lastIdx="1" clrIdx="1"/>
</p:cmAuthorLst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Theme" Type="http://schemas.openxmlformats.org/officeDocument/2006/relationships/theme" Target="theme/theme1.xml"/><Relationship Id="rIdAuthors" Type="http://schemas.openxmlformats.org/officeDocument/2006/relationships/commentAuthors" Target="commentAuthors.xml"/></Relationships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30T10:00:00Z" idx="1">
    <p:pos x="100" y="100"/>
    <p:text>常駐は 2 名に減りました（2026-07 の体制変更）。図は 3 名のままです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30T11:00:00Z" idx="1">
    <p:pos x="100" y="100"/>
    <p:text>一括移行の停止時間は 48 時間では収まりません。実測で 62 時間でした（2026-06 のリハーサル）</p:text>
  </p:cm>
  <p:cm authorId="2" dt="2026-08-03T09:30:00Z" idx="1">
    <p:pos x="100" y="100"/>
    <p:text>並行稼働の費用「高」は回線費のみの試算です。要員費を入れると 3 倍になります</p:text>
  </p:cm>
</p:cmLst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番号 プレースホルダー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r>
              <a:rPr lang="ja-JP"/>
              <a:t>1</a:t>
            </a:r>
          </a:p>
        </p:txBody>
      </p:sp>
      <p:sp>
        <p:nvSpPr>
          <p:cNvPr id="3" name="ノート プレースホルダー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A 案にしたのは B 社の保守期限が 2027-03 で切れるためで、</a:t>
            </a:r>
          </a:p>
          <a:p>
            <a:r>
              <a:rPr lang="ja-JP"/>
              <a:t>性能や機能で選んだわけではない。</a:t>
            </a:r>
          </a:p>
          <a:p>
            <a:r>
              <a:rPr lang="ja-JP"/>
              <a:t/>
            </a:r>
          </a:p>
          <a:p>
            <a:r>
              <a:rPr lang="ja-JP"/>
              <a:t>B 案（現行の延命）は 2028-03 まで持つが、その時点で</a:t>
            </a:r>
          </a:p>
          <a:p>
            <a:r>
              <a:rPr lang="ja-JP"/>
              <a:t>同じ検討をもう一度やることになるので採らなかった。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番号 プレースホルダー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r>
              <a:rPr lang="ja-JP"/>
              <a:t>4</a:t>
            </a:r>
          </a:p>
        </p:txBody>
      </p:sp>
      <p:sp>
        <p:nvSpPr>
          <p:cNvPr id="3" name="ノート プレースホルダー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この図は現行の運用設計書（2019 年版）からの転記であり、</a:t>
            </a:r>
          </a:p>
          <a:p>
            <a:r>
              <a:rPr lang="ja-JP"/>
              <a:t>2023 年の EDI 更改は反映されていない。</a:t>
            </a:r>
          </a:p>
          <a:p>
            <a:r>
              <a:rPr lang="ja-JP"/>
              <a:t/>
            </a:r>
          </a:p>
          <a:p>
            <a:r>
              <a:rPr lang="ja-JP"/>
              <a:t>物流センターとの接続は現在 CSV の FTP 送信だが、</a:t>
            </a:r>
          </a:p>
          <a:p>
            <a:r>
              <a:rPr lang="ja-JP"/>
              <a:t>新システムでは Web API へ寄せる（別紙 7）。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番号 プレースホルダー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r>
              <a:rPr lang="ja-JP"/>
              <a:t>5</a:t>
            </a:r>
          </a:p>
        </p:txBody>
      </p:sp>
      <p:sp>
        <p:nvSpPr>
          <p:cNvPr id="3" name="ノート プレースホルダー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画面の項目は別紙 2 に一覧がある。この絵からは読み取れないので、</a:t>
            </a:r>
          </a:p>
          <a:p>
            <a:r>
              <a:rPr lang="ja-JP"/>
              <a:t>移行後の画面設計はそちらを正とすること。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番号 プレースホルダー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r>
              <a:rPr lang="ja-JP"/>
              <a:t>7</a:t>
            </a:r>
          </a:p>
        </p:txBody>
      </p:sp>
      <p:sp>
        <p:nvSpPr>
          <p:cNvPr id="3" name="ノート プレースホルダー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段階移行を推す。停止時間よりも切戻しの確実性を採った。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Img5_1" Type="http://schemas.openxmlformats.org/officeDocument/2006/relationships/image" Target="../media/image5_1.png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全体構成（A 案）</a:t>
            </a:r>
          </a:p>
        </p:txBody>
      </p:sp>
      <p:sp>
        <p:nvSpPr>
          <p:cNvPr id="3" name="受注入力" descr="現用／待機の 2 系統。DR は別紙 5"/>
          <p:cNvSpPr>
            <a:spLocks noGrp="1"/>
          </p:cNvSpPr>
          <p:nvPr/>
        </p:nvSpPr>
        <p:spPr>
          <a:xfrm>
            <a:off x="7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オーダー入力</a:t>
            </a:r>
            <a:br/>
            <a:r>
              <a:rPr lang="ja-JP"/>
              <a:t>（Web／代行）</a:t>
            </a:r>
          </a:p>
        </p:txBody>
      </p:sp>
      <p:sp>
        <p:nvSpPr>
          <p:cNvPr id="4" name="与信判定"/>
          <p:cNvSpPr>
            <a:spLocks noGrp="1"/>
          </p:cNvSpPr>
          <p:nvPr/>
        </p:nvSpPr>
        <p:spPr>
          <a:xfrm>
            <a:off x="34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与信の枠内？</a:t>
            </a:r>
          </a:p>
        </p:txBody>
      </p:sp>
      <p:sp>
        <p:nvSpPr>
          <p:cNvPr id="5" name="在庫引当"/>
          <p:cNvSpPr>
            <a:spLocks noGrp="1"/>
          </p:cNvSpPr>
          <p:nvPr/>
        </p:nvSpPr>
        <p:spPr>
          <a:xfrm>
            <a:off x="61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在庫引当</a:t>
            </a:r>
          </a:p>
        </p:txBody>
      </p:sp>
      <p:sp>
        <p:nvSpPr>
          <p:cNvPr id="6" name="出荷指示"/>
          <p:cNvSpPr>
            <a:spLocks noGrp="1"/>
          </p:cNvSpPr>
          <p:nvPr/>
        </p:nvSpPr>
        <p:spPr>
          <a:xfrm>
            <a:off x="88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出荷指示</a:t>
            </a:r>
          </a:p>
        </p:txBody>
      </p:sp>
      <p:cxnSp>
        <p:nvCxnSpPr>
          <p:cNvPr id="7" name="同期"/>
          <p:cNvCxnSpPr>
            <a:stCxn id="3" idx="3"/>
            <a:endCxn id="4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8" name="夜間バッチ"/>
          <p:cNvCxnSpPr>
            <a:stCxn id="4" idx="3"/>
            <a:endCxn id="5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  <p:cxnSp>
        <p:nvCxnSpPr>
          <p:cNvPr id="9" name="同期"/>
          <p:cNvCxnSpPr>
            <a:stCxn id="5" idx="3"/>
            <a:endCxn id="6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10" name="補足の矢印"/>
          <p:cNvCxnSpPr/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移行対象と件数</a:t>
            </a:r>
          </a:p>
        </p:txBody>
      </p:sp>
      <p:graphicFrame>
        <p:nvGraphicFramePr>
          <p:cNvPr id="3" name="表 3"/>
          <p:cNvGraphicFramePr/>
          <p:nvPr/>
        </p:nvGraphicFramePr>
        <p:xfrm>
          <a:off x="700000" y="1900000"/>
          <a:ext cx="10792000" cy="1480000"/>
        </p:xfrm>
        <a:graphic>
          <a:graphicData uri="http://schemas.openxmlformats.org/drawingml/2006/main/table">
            <a:tbl>
              <a:tblPr/>
              <a:tblGrid>
                <a:gridCol w="2698000"/>
                <a:gridCol w="2698000"/>
                <a:gridCol w="2698000"/>
                <a:gridCol w="2698000"/>
              </a:tblGrid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論理名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件数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受注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T_ORDER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受注ヘッダ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120000</a:t>
                      </a:r>
                    </a:p>
                  </a:txBody>
                  <a:tcPr/>
                </a:tc>
              </a:tr>
              <a:tr h="370000">
                <a:tc vMerge="1"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T_ORDER_D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受注明細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480000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マスタ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M_CUSTOMER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得意先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3200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体制と役割分担</a:t>
            </a:r>
          </a:p>
        </p:txBody>
      </p:sp>
      <p:sp>
        <p:nvSpPr>
          <p:cNvPr id="3" name="発注者"/>
          <p:cNvSpPr>
            <a:spLocks noGrp="1"/>
          </p:cNvSpPr>
          <p:nvPr/>
        </p:nvSpPr>
        <p:spPr>
          <a:xfrm>
            <a:off x="7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発注者（情報システム部）</a:t>
            </a:r>
          </a:p>
        </p:txBody>
      </p:sp>
      <p:sp>
        <p:nvSpPr>
          <p:cNvPr id="4" name="元請"/>
          <p:cNvSpPr>
            <a:spLocks noGrp="1"/>
          </p:cNvSpPr>
          <p:nvPr/>
        </p:nvSpPr>
        <p:spPr>
          <a:xfrm>
            <a:off x="34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元請</a:t>
            </a:r>
            <a:br/>
            <a:r>
              <a:rPr lang="ja-JP"/>
              <a:t>常駐 3 名</a:t>
            </a:r>
          </a:p>
        </p:txBody>
      </p:sp>
      <p:sp>
        <p:nvSpPr>
          <p:cNvPr id="5" name="協力会社"/>
          <p:cNvSpPr>
            <a:spLocks noGrp="1"/>
          </p:cNvSpPr>
          <p:nvPr/>
        </p:nvSpPr>
        <p:spPr>
          <a:xfrm>
            <a:off x="61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協力会社（帳票）</a:t>
            </a:r>
          </a:p>
        </p:txBody>
      </p:sp>
      <p:cxnSp>
        <p:nvCxnSpPr>
          <p:cNvPr id="6" name="委託"/>
          <p:cNvCxnSpPr>
            <a:stCxn id="3" idx="3"/>
            <a:endCxn id="4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7" name="再委託"/>
          <p:cNvCxnSpPr>
            <a:stCxn id="4" idx="3"/>
            <a:endCxn id="5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現行システム全体構成（ゾーン別）</a:t>
            </a:r>
          </a:p>
        </p:txBody>
      </p:sp>
      <p:grpSp>
        <p:nvGrpSpPr>
          <p:cNvPr id="3" name="オンライン系" descr="現用／待機の 2 系統。DR サイトは別紙 5"/>
          <p:cNvGrpSpPr/>
          <p:nvPr/>
        </p:nvGrpSpPr>
        <p:grpSpPr>
          <a:xfrm>
            <a:off x="700000" y="1900000"/>
            <a:ext cx="10300000" cy="900000"/>
            <a:chOff x="700000" y="1900000"/>
            <a:chExt cx="10300000" cy="900000"/>
          </a:xfrm>
        </p:grpSpPr>
        <p:sp>
          <p:nvSpPr>
            <p:cNvPr id="4" name="受注入力"/>
            <p:cNvSpPr>
              <a:spLocks noGrp="1"/>
            </p:cNvSpPr>
            <p:nvPr/>
          </p:nvSpPr>
          <p:spPr>
            <a:xfrm>
              <a:off x="700000" y="19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受注入力</a:t>
              </a:r>
              <a:br/>
              <a:r>
                <a:rPr lang="ja-JP"/>
                <a:t>（Web／代行）</a:t>
              </a:r>
            </a:p>
          </p:txBody>
        </p:sp>
        <p:sp>
          <p:nvSpPr>
            <p:cNvPr id="5" name="与信照会"/>
            <p:cNvSpPr>
              <a:spLocks noGrp="1"/>
            </p:cNvSpPr>
            <p:nvPr/>
          </p:nvSpPr>
          <p:spPr>
            <a:xfrm>
              <a:off x="3400000" y="19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与信照会</a:t>
              </a:r>
            </a:p>
          </p:txBody>
        </p:sp>
        <p:sp>
          <p:nvSpPr>
            <p:cNvPr id="6" name="在庫引当"/>
            <p:cNvSpPr>
              <a:spLocks noGrp="1"/>
            </p:cNvSpPr>
            <p:nvPr/>
          </p:nvSpPr>
          <p:spPr>
            <a:xfrm>
              <a:off x="6100000" y="19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在庫引当</a:t>
              </a:r>
            </a:p>
          </p:txBody>
        </p:sp>
        <p:sp>
          <p:nvSpPr>
            <p:cNvPr id="7" name="出荷指示"/>
            <p:cNvSpPr>
              <a:spLocks noGrp="1"/>
            </p:cNvSpPr>
            <p:nvPr/>
          </p:nvSpPr>
          <p:spPr>
            <a:xfrm>
              <a:off x="8800000" y="19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出荷指示</a:t>
              </a:r>
            </a:p>
          </p:txBody>
        </p:sp>
      </p:grpSp>
      <p:grpSp>
        <p:nvGrpSpPr>
          <p:cNvPr id="8" name="バッチ系" descr="夜間バッチ。実行順は運用設計書 4.2 による"/>
          <p:cNvGrpSpPr/>
          <p:nvPr/>
        </p:nvGrpSpPr>
        <p:grpSpPr>
          <a:xfrm>
            <a:off x="700000" y="3500000"/>
            <a:ext cx="10300000" cy="900000"/>
            <a:chOff x="700000" y="3500000"/>
            <a:chExt cx="10300000" cy="900000"/>
          </a:xfrm>
        </p:grpSpPr>
        <p:sp>
          <p:nvSpPr>
            <p:cNvPr id="9" name="売上計上"/>
            <p:cNvSpPr>
              <a:spLocks noGrp="1"/>
            </p:cNvSpPr>
            <p:nvPr/>
          </p:nvSpPr>
          <p:spPr>
            <a:xfrm>
              <a:off x="700000" y="35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売上計上</a:t>
              </a:r>
            </a:p>
          </p:txBody>
        </p:sp>
        <p:sp>
          <p:nvSpPr>
            <p:cNvPr id="10" name="請求締め"/>
            <p:cNvSpPr>
              <a:spLocks noGrp="1"/>
            </p:cNvSpPr>
            <p:nvPr/>
          </p:nvSpPr>
          <p:spPr>
            <a:xfrm>
              <a:off x="3400000" y="35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請求締め</a:t>
              </a:r>
              <a:br/>
              <a:r>
                <a:rPr lang="ja-JP"/>
                <a:t>（月次）</a:t>
              </a:r>
            </a:p>
          </p:txBody>
        </p:sp>
        <p:sp>
          <p:nvSpPr>
            <p:cNvPr id="11" name="会計連携"/>
            <p:cNvSpPr>
              <a:spLocks noGrp="1"/>
            </p:cNvSpPr>
            <p:nvPr/>
          </p:nvSpPr>
          <p:spPr>
            <a:xfrm>
              <a:off x="6100000" y="35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会計連携</a:t>
              </a:r>
            </a:p>
          </p:txBody>
        </p:sp>
        <p:sp>
          <p:nvSpPr>
            <p:cNvPr id="12" name="帳票出力"/>
            <p:cNvSpPr>
              <a:spLocks noGrp="1"/>
            </p:cNvSpPr>
            <p:nvPr/>
          </p:nvSpPr>
          <p:spPr>
            <a:xfrm>
              <a:off x="8800000" y="35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帳票出力</a:t>
              </a:r>
            </a:p>
          </p:txBody>
        </p:sp>
      </p:grpSp>
      <p:grpSp>
        <p:nvGrpSpPr>
          <p:cNvPr id="13" name="外部接続"/>
          <p:cNvGrpSpPr/>
          <p:nvPr/>
        </p:nvGrpSpPr>
        <p:grpSpPr>
          <a:xfrm>
            <a:off x="700000" y="5100000"/>
            <a:ext cx="10300000" cy="900000"/>
            <a:chOff x="700000" y="5100000"/>
            <a:chExt cx="10300000" cy="900000"/>
          </a:xfrm>
        </p:grpSpPr>
        <p:sp>
          <p:nvSpPr>
            <p:cNvPr id="14" name="得意先EDI"/>
            <p:cNvSpPr>
              <a:spLocks noGrp="1"/>
            </p:cNvSpPr>
            <p:nvPr/>
          </p:nvSpPr>
          <p:spPr>
            <a:xfrm>
              <a:off x="700000" y="51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得意先 EDI</a:t>
              </a:r>
              <a:br/>
              <a:r>
                <a:rPr lang="ja-JP"/>
                <a:t>（全銀手順）</a:t>
              </a:r>
            </a:p>
          </p:txBody>
        </p:sp>
        <p:sp>
          <p:nvSpPr>
            <p:cNvPr id="15" name="物流センター"/>
            <p:cNvSpPr>
              <a:spLocks noGrp="1"/>
            </p:cNvSpPr>
            <p:nvPr/>
          </p:nvSpPr>
          <p:spPr>
            <a:xfrm>
              <a:off x="3400000" y="51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物流センター</a:t>
              </a:r>
            </a:p>
          </p:txBody>
        </p:sp>
        <p:sp>
          <p:nvSpPr>
            <p:cNvPr id="16" name="銀行伝送"/>
            <p:cNvSpPr>
              <a:spLocks noGrp="1"/>
            </p:cNvSpPr>
            <p:nvPr/>
          </p:nvSpPr>
          <p:spPr>
            <a:xfrm>
              <a:off x="6100000" y="51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銀行ファイル伝送</a:t>
              </a:r>
            </a:p>
          </p:txBody>
        </p:sp>
        <p:sp>
          <p:nvSpPr>
            <p:cNvPr id="17" name="会計パッケージ"/>
            <p:cNvSpPr>
              <a:spLocks noGrp="1"/>
            </p:cNvSpPr>
            <p:nvPr/>
          </p:nvSpPr>
          <p:spPr>
            <a:xfrm>
              <a:off x="8800000" y="5100000"/>
              <a:ext cx="22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ja-JP"/>
                <a:t>会計パッケージ</a:t>
              </a:r>
            </a:p>
          </p:txBody>
        </p:sp>
      </p:grpSp>
      <p:cxnSp>
        <p:nvCxnSpPr>
          <p:cNvPr id="18" name="受注データ"/>
          <p:cNvCxnSpPr>
            <a:stCxn id="14" idx="3"/>
            <a:endCxn id="4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19" name="同期"/>
          <p:cNvCxnSpPr>
            <a:stCxn id="4" idx="3"/>
            <a:endCxn id="5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20" name="同期"/>
          <p:cNvCxnSpPr>
            <a:stCxn id="5" idx="3"/>
            <a:endCxn id="6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21" name="同期"/>
          <p:cNvCxnSpPr>
            <a:stCxn id="6" idx="3"/>
            <a:endCxn id="7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22" name="出荷指示データ"/>
          <p:cNvCxnSpPr>
            <a:stCxn id="7" idx="3"/>
            <a:endCxn id="15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  <p:cxnSp>
        <p:nvCxnSpPr>
          <p:cNvPr id="23" name="夜間バッチ"/>
          <p:cNvCxnSpPr>
            <a:stCxn id="7" idx="3"/>
            <a:endCxn id="9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  <p:cxnSp>
        <p:nvCxnSpPr>
          <p:cNvPr id="24" name="月次"/>
          <p:cNvCxnSpPr>
            <a:stCxn id="9" idx="3"/>
            <a:endCxn id="10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  <p:cxnSp>
        <p:nvCxnSpPr>
          <p:cNvPr id="25" name="月次"/>
          <p:cNvCxnSpPr>
            <a:stCxn id="10" idx="3"/>
            <a:endCxn id="11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  <p:cxnSp>
        <p:nvCxnSpPr>
          <p:cNvPr id="26" name="口座振替"/>
          <p:cNvCxnSpPr>
            <a:stCxn id="10" idx="3"/>
            <a:endCxn id="16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  <p:cxnSp>
        <p:nvCxnSpPr>
          <p:cNvPr id="27" name="仕訳連携"/>
          <p:cNvCxnSpPr>
            <a:stCxn id="11" idx="3"/>
            <a:endCxn id="17" idx="1"/>
          </p:cNvCxnSpPr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dash"/>
            <a:headEnd type="none"/>
            <a:tailEnd type="triangle"/>
          </a:ln>
        </p:spPr>
      </p:cxnSp>
      <p:cxnSp>
        <p:nvCxnSpPr>
          <p:cNvPr id="28" name="凡例の矢印"/>
          <p:cNvCxnSpPr/>
          <p:nvPr/>
        </p:nvCxnSpPr>
        <p:spPr>
          <a:xfrm>
            <a:off x="700000" y="1900000"/>
            <a:ext cx="2200000" cy="0"/>
          </a:xfrm>
          <a:prstGeom prst="straightConnector1">
            <a:avLst/>
          </a:prstGeom>
          <a:ln w="12700">
            <a:prstDash val="solid"/>
            <a:headEnd type="none"/>
            <a:tailEnd type="triangle"/>
          </a:ln>
        </p:spPr>
      </p:cxn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現行の受注入力画面（ハードコピー）</a:t>
            </a:r>
          </a:p>
        </p:txBody>
      </p:sp>
      <p:pic>
        <p:nvPicPr>
          <p:cNvPr id="3" name="現行画面" descr="現行の受注入力画面。項目名は別紙 2 の項目定義書による"/>
          <p:cNvPicPr>
            <a:picLocks noChangeAspect="1"/>
          </p:cNvPicPr>
          <p:nvPr/>
        </p:nvPicPr>
        <p:blipFill>
          <a:blip r:embed="rIdImg5_1"/>
          <a:stretch>
            <a:fillRect/>
          </a:stretch>
        </p:blipFill>
        <p:spPr>
          <a:xfrm>
            <a:off x="700000" y="1900000"/>
            <a:ext cx="2200000" cy="900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フェーズ計画と主要マイルストーン</a:t>
            </a:r>
          </a:p>
        </p:txBody>
      </p:sp>
      <p:graphicFrame>
        <p:nvGraphicFramePr>
          <p:cNvPr id="3" name="表 3"/>
          <p:cNvGraphicFramePr/>
          <p:nvPr/>
        </p:nvGraphicFramePr>
        <p:xfrm>
          <a:off x="700000" y="1900000"/>
          <a:ext cx="10792000" cy="2960000"/>
        </p:xfrm>
        <a:graphic>
          <a:graphicData uri="http://schemas.openxmlformats.org/drawingml/2006/main/table">
            <a:tbl>
              <a:tblPr/>
              <a:tblGrid>
                <a:gridCol w="2158400"/>
                <a:gridCol w="2158400"/>
                <a:gridCol w="2158400"/>
                <a:gridCol w="2158400"/>
                <a:gridCol w="2158400"/>
              </a:tblGrid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主要成果物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判定会議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第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要件定義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2026-09〜2026-11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要件定義書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要件確定会議</a:t>
                      </a:r>
                    </a:p>
                  </a:txBody>
                  <a:tcPr/>
                </a:tc>
              </a:tr>
              <a:tr h="370000">
                <a:tc vMerge="1"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基本設計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2026-12〜2027-02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基本設計書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基本設計完了判定</a:t>
                      </a:r>
                    </a:p>
                  </a:txBody>
                  <a:tcPr/>
                </a:tc>
              </a:tr>
              <a:tr h="370000">
                <a:tc vMerge="1"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詳細設計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2027-03〜2027-05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詳細設計書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第 2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製造・単体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2027-06〜2027-10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単体試験報告書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</a:tr>
              <a:tr h="370000">
                <a:tc vMerge="1"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結合試験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2027-11〜2028-01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結合試験報告書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結合試験完了判定</a:t>
                      </a:r>
                    </a:p>
                  </a:txBody>
                  <a:tcPr/>
                </a:tc>
              </a:tr>
              <a:tr h="370000">
                <a:tc vMerge="1">
                  <a:txBody>
                    <a:bodyPr/>
                    <a:lstStyle/>
                    <a:p>
                      <a:r>
                        <a:rPr lang="ja-JP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総合試験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2028-02〜2028-04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総合試験報告書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移行判定会議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第 3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移行・稼働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2028-05〜2028-06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移行手順書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稼働判定会議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移行方式の比較</a:t>
            </a:r>
          </a:p>
        </p:txBody>
      </p:sp>
      <p:graphicFrame>
        <p:nvGraphicFramePr>
          <p:cNvPr id="3" name="表 3"/>
          <p:cNvGraphicFramePr/>
          <p:nvPr/>
        </p:nvGraphicFramePr>
        <p:xfrm>
          <a:off x="700000" y="1900000"/>
          <a:ext cx="10792000" cy="1480000"/>
        </p:xfrm>
        <a:graphic>
          <a:graphicData uri="http://schemas.openxmlformats.org/drawingml/2006/main/table">
            <a:tbl>
              <a:tblPr/>
              <a:tblGrid>
                <a:gridCol w="2158400"/>
                <a:gridCol w="2158400"/>
                <a:gridCol w="2158400"/>
                <a:gridCol w="2158400"/>
                <a:gridCol w="2158400"/>
              </a:tblGrid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停止時間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切戻し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評価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一括移行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48 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可（12 時間）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△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段階移行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4 時間 × 3 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可（2 時間）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○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lstStyle/>
                    <a:p>
                      <a:r>
                        <a:rPr lang="ja-JP"/>
                        <a:t>並行稼働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0 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/>
                        <a:t>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本提案の対象外（やらないこと）</a:t>
            </a:r>
          </a:p>
        </p:txBody>
      </p:sp>
      <p:sp>
        <p:nvSpPr>
          <p:cNvPr id="3" name="対象外"/>
          <p:cNvSpPr>
            <a:spLocks noGrp="1"/>
          </p:cNvSpPr>
          <p:nvPr/>
        </p:nvSpPr>
        <p:spPr>
          <a:xfrm>
            <a:off x="7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・帳票のレイアウト変更（現行踏襲とする）</a:t>
            </a:r>
            <a:br/>
            <a:r>
              <a:rPr lang="ja-JP"/>
              <a:t>・会計パッケージ側の改修</a:t>
            </a:r>
            <a:br/>
            <a:r>
              <a:rPr lang="ja-JP"/>
              <a:t>・得意先マスタの名寄せ（別プロジェクト）</a:t>
            </a:r>
            <a:br/>
            <a:r>
              <a:rPr lang="ja-JP"/>
              <a:t>・モバイル対応（次期以降）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0000" y="500000"/>
            <a:ext cx="10792000" cy="10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全体構成（B 案・旧版）</a:t>
            </a:r>
          </a:p>
        </p:txBody>
      </p:sp>
      <p:sp>
        <p:nvSpPr>
          <p:cNvPr id="3" name="現行維持"/>
          <p:cNvSpPr>
            <a:spLocks noGrp="1"/>
          </p:cNvSpPr>
          <p:nvPr/>
        </p:nvSpPr>
        <p:spPr>
          <a:xfrm>
            <a:off x="700000" y="1900000"/>
            <a:ext cx="2200000" cy="9000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現行を延命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arp4 検体">
  <a:themeElements>
    <a:clrScheme name="arp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p4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arp4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creator>販売管理システム更改PT</dc:creator>
  <cp:lastModifiedBy>佐藤（アーキテクト）</cp:lastModifiedBy>
</cp:coreProperties>
</file>