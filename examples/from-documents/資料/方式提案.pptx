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1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7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鈴木（PMO）" initials="" lastIdx="1" clrIdx="0"/>
  <p:cmAuthor id="2" name="高橋（インフラ）" initials="" lastIdx="1" clrIdx="1"/>
</p:cmAuthorLst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Theme" Type="http://schemas.openxmlformats.org/officeDocument/2006/relationships/theme" Target="theme/theme1.xml"/><Relationship Id="rIdAuthors" Type="http://schemas.openxmlformats.org/officeDocument/2006/relationships/commentAuthors" Target="commentAuthors.xml"/></Relationships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30T10:00:00Z" idx="1">
    <p:pos x="100" y="100"/>
    <p:text>常駐は 2 名に減りました（2026-07 の体制変更）。図は 3 名のままです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30T11:00:00Z" idx="1">
    <p:pos x="100" y="100"/>
    <p:text>一括移行の停止時間は 48 時間では収まりません。実測で 62 時間でした（2026-06 のリハーサル）</p:text>
  </p:cm>
  <p:cm authorId="2" dt="2026-08-03T09:30:00Z" idx="1">
    <p:pos x="100" y="100"/>
    <p:text>並行稼働の費用「高」は回線費のみの試算です。要員費を入れると 3 倍になります</p:text>
  </p:cm>
</p:cmLst>
</file>

<file path=ppt/comments/comment1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6-08-04T09:00:00Z" idx="1">
    <p:pos x="100" y="100"/>
    <p:text>月次バッチの現行実測は測っていません。空欄は 0 ではなく未測定です</p:text>
  </p:cm>
</p:cmLst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スライド番号 プレースホルダー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r>
              <a:rPr lang="ja-JP"/>
              <a:t>1</a:t>
            </a:r>
          </a:p>
        </p:txBody>
      </p:sp>
      <p:sp>
        <p:nvSpPr>
          <p:cNvPr id="3" name="ノート プレースホルダー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/>
              <a:t>A 案にしたのは B 社の保守期限が 2027-03 で切れるためで、</a:t>
            </a:r>
          </a:p>
          <a:p>
            <a:r>
              <a:rPr lang="ja-JP"/>
              <a:t>性能や機能で選んだわけではない。</a:t>
            </a:r>
          </a:p>
          <a:p>
            <a:r>
              <a:rPr lang="ja-JP"/>
              <a:t/>
            </a:r>
          </a:p>
          <a:p>
            <a:r>
              <a:rPr lang="ja-JP"/>
              <a:t>B 案（現行の延命）は 2028-03 まで持つが、その時点で</a:t>
            </a:r>
          </a:p>
          <a:p>
            <a:r>
              <a:rPr lang="ja-JP"/>
              <a:t>同じ検討をもう一度やることになるので採らなかった。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スライド番号 プレースホルダー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r>
              <a:rPr lang="ja-JP"/>
              <a:t>4</a:t>
            </a:r>
          </a:p>
        </p:txBody>
      </p:sp>
      <p:sp>
        <p:nvSpPr>
          <p:cNvPr id="3" name="ノート プレースホルダー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/>
              <a:t>この図は現行の運用設計書（2019 年版）からの転記であり、</a:t>
            </a:r>
          </a:p>
          <a:p>
            <a:r>
              <a:rPr lang="ja-JP"/>
              <a:t>2023 年の EDI 更改は反映されていない。</a:t>
            </a:r>
          </a:p>
          <a:p>
            <a:r>
              <a:rPr lang="ja-JP"/>
              <a:t/>
            </a:r>
          </a:p>
          <a:p>
            <a:r>
              <a:rPr lang="ja-JP"/>
              <a:t>物流センターとの接続は現在 CSV の FTP 送信だが、</a:t>
            </a:r>
          </a:p>
          <a:p>
            <a:r>
              <a:rPr lang="ja-JP"/>
              <a:t>新システムでは Web API へ寄せる（別紙 7）。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スライド番号 プレースホルダー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r>
              <a:rPr lang="ja-JP"/>
              <a:t>5</a:t>
            </a:r>
          </a:p>
        </p:txBody>
      </p:sp>
      <p:sp>
        <p:nvSpPr>
          <p:cNvPr id="3" name="ノート プレースホルダー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/>
              <a:t>画面の項目は別紙 2 に一覧がある。この絵からは読み取れないので、</a:t>
            </a:r>
          </a:p>
          <a:p>
            <a:r>
              <a:rPr lang="ja-JP"/>
              <a:t>移行後の画面設計はそちらを正とすること。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スライド番号 プレースホルダー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r>
              <a:rPr lang="ja-JP"/>
              <a:t>7</a:t>
            </a:r>
          </a:p>
        </p:txBody>
      </p:sp>
      <p:sp>
        <p:nvSpPr>
          <p:cNvPr id="3" name="ノート プレースホルダー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/>
              <a:t>段階移行を推す。停止時間よりも切戻しの確実性を採った。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スライド番号 プレースホルダー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r>
              <a:rPr lang="ja-JP"/>
              <a:t>9</a:t>
            </a:r>
          </a:p>
        </p:txBody>
      </p:sp>
      <p:sp>
        <p:nvSpPr>
          <p:cNvPr id="3" name="ノート プレースホルダー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/>
              <a:t>営業事務の権限は 2026-08 時点で未確定である。</a:t>
            </a:r>
          </a:p>
          <a:p>
            <a:r>
              <a:rPr lang="ja-JP"/>
              <a:t>与信照会を見せるかどうかは、個人情報の扱いと合わせて別途決める。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スライド番号 プレースホルダー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r>
              <a:rPr lang="ja-JP"/>
              <a:t>11</a:t>
            </a:r>
          </a:p>
        </p:txBody>
      </p:sp>
      <p:sp>
        <p:nvSpPr>
          <p:cNvPr id="3" name="ノート プレースホルダー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/>
              <a:t>日次と月次で実行基盤を分けるのは、月次の締めが日次の遅延に</a:t>
            </a:r>
          </a:p>
          <a:p>
            <a:r>
              <a:rPr lang="ja-JP"/>
              <a:t>引きずられないようにするためである（現行はここが 1 つで、</a:t>
            </a:r>
          </a:p>
          <a:p>
            <a:r>
              <a:rPr lang="ja-JP"/>
              <a:t>月初の 3 日間は日次が遅れると締めも遅れていた）。</a:t>
            </a:r>
          </a:p>
        </p:txBody>
      </p:sp>
    </p:spTree>
  </p:cSld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Img5_1" Type="http://schemas.openxmlformats.org/officeDocument/2006/relationships/image" Target="../media/image5_1.png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omments" Target="../comments/commen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全体構成（A 案）</a:t>
            </a:r>
          </a:p>
        </p:txBody>
      </p:sp>
      <p:sp>
        <p:nvSpPr>
          <p:cNvPr id="3" name="受注入力" descr="現用／待機の 2 系統。DR は別紙 5"/>
          <p:cNvSpPr>
            <a:spLocks noGrp="1"/>
          </p:cNvSpPr>
          <p:nvPr/>
        </p:nvSpPr>
        <p:spPr>
          <a:xfrm>
            <a:off x="7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オーダー入力</a:t>
            </a:r>
            <a:br/>
            <a:r>
              <a:rPr lang="ja-JP"/>
              <a:t>（Web／代行）</a:t>
            </a:r>
          </a:p>
        </p:txBody>
      </p:sp>
      <p:sp>
        <p:nvSpPr>
          <p:cNvPr id="4" name="与信判定"/>
          <p:cNvSpPr>
            <a:spLocks noGrp="1"/>
          </p:cNvSpPr>
          <p:nvPr/>
        </p:nvSpPr>
        <p:spPr>
          <a:xfrm>
            <a:off x="34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与信の枠内？</a:t>
            </a:r>
          </a:p>
        </p:txBody>
      </p:sp>
      <p:sp>
        <p:nvSpPr>
          <p:cNvPr id="5" name="在庫引当"/>
          <p:cNvSpPr>
            <a:spLocks noGrp="1"/>
          </p:cNvSpPr>
          <p:nvPr/>
        </p:nvSpPr>
        <p:spPr>
          <a:xfrm>
            <a:off x="61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在庫引当</a:t>
            </a:r>
          </a:p>
        </p:txBody>
      </p:sp>
      <p:sp>
        <p:nvSpPr>
          <p:cNvPr id="6" name="出荷指示"/>
          <p:cNvSpPr>
            <a:spLocks noGrp="1"/>
          </p:cNvSpPr>
          <p:nvPr/>
        </p:nvSpPr>
        <p:spPr>
          <a:xfrm>
            <a:off x="88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出荷指示</a:t>
            </a:r>
          </a:p>
        </p:txBody>
      </p:sp>
      <p:cxnSp>
        <p:nvCxnSpPr>
          <p:cNvPr id="7" name="同期"/>
          <p:cNvCxnSpPr>
            <a:stCxn id="3" idx="3"/>
            <a:endCxn id="4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8" name="夜間バッチ"/>
          <p:cNvCxnSpPr>
            <a:stCxn id="4" idx="3"/>
            <a:endCxn id="5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9" name="同期"/>
          <p:cNvCxnSpPr>
            <a:stCxn id="5" idx="3"/>
            <a:endCxn id="6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10" name="補足の矢印"/>
          <p:cNvCxnSpPr/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移行対象と件数</a:t>
            </a:r>
          </a:p>
        </p:txBody>
      </p:sp>
      <p:graphicFrame>
        <p:nvGraphicFramePr>
          <p:cNvPr id="3" name="表 3"/>
          <p:cNvGraphicFramePr/>
          <p:nvPr/>
        </p:nvGraphicFramePr>
        <p:xfrm>
          <a:off x="700000" y="1900000"/>
          <a:ext cx="10792000" cy="1480000"/>
        </p:xfrm>
        <a:graphic>
          <a:graphicData uri="http://schemas.openxmlformats.org/drawingml/2006/table">
            <a:tbl>
              <a:tblPr/>
              <a:tblGrid>
                <a:gridCol w="2698000"/>
                <a:gridCol w="2698000"/>
                <a:gridCol w="2698000"/>
                <a:gridCol w="2698000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区分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論理名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件数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受注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T_ORDER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受注ヘッダ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120000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T_ORDER_D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受注明細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480000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マスタ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M_CUSTOMER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得意先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3200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体制と役割分担</a:t>
            </a:r>
          </a:p>
        </p:txBody>
      </p:sp>
      <p:sp>
        <p:nvSpPr>
          <p:cNvPr id="3" name="発注者"/>
          <p:cNvSpPr>
            <a:spLocks noGrp="1"/>
          </p:cNvSpPr>
          <p:nvPr/>
        </p:nvSpPr>
        <p:spPr>
          <a:xfrm>
            <a:off x="7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発注者（情報システム部）</a:t>
            </a:r>
          </a:p>
        </p:txBody>
      </p:sp>
      <p:sp>
        <p:nvSpPr>
          <p:cNvPr id="4" name="元請"/>
          <p:cNvSpPr>
            <a:spLocks noGrp="1"/>
          </p:cNvSpPr>
          <p:nvPr/>
        </p:nvSpPr>
        <p:spPr>
          <a:xfrm>
            <a:off x="34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元請</a:t>
            </a:r>
            <a:br/>
            <a:r>
              <a:rPr lang="ja-JP"/>
              <a:t>常駐 3 名</a:t>
            </a:r>
          </a:p>
        </p:txBody>
      </p:sp>
      <p:sp>
        <p:nvSpPr>
          <p:cNvPr id="5" name="協力会社"/>
          <p:cNvSpPr>
            <a:spLocks noGrp="1"/>
          </p:cNvSpPr>
          <p:nvPr/>
        </p:nvSpPr>
        <p:spPr>
          <a:xfrm>
            <a:off x="61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協力会社（帳票）</a:t>
            </a:r>
          </a:p>
        </p:txBody>
      </p:sp>
      <p:cxnSp>
        <p:nvCxnSpPr>
          <p:cNvPr id="6" name="委託"/>
          <p:cNvCxnSpPr>
            <a:stCxn id="3" idx="3"/>
            <a:endCxn id="4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7" name="再委託"/>
          <p:cNvCxnSpPr>
            <a:stCxn id="4" idx="3"/>
            <a:endCxn id="5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現行システム全体構成（ゾーン別）</a:t>
            </a:r>
          </a:p>
        </p:txBody>
      </p:sp>
      <p:grpSp>
        <p:nvGrpSpPr>
          <p:cNvPr id="3" name="オンライン系" descr="現用／待機の 2 系統。DR サイトは別紙 5"/>
          <p:cNvGrpSpPr/>
          <p:nvPr/>
        </p:nvGrpSpPr>
        <p:grpSpPr>
          <a:xfrm>
            <a:off x="700000" y="1900000"/>
            <a:ext cx="10300000" cy="900000"/>
            <a:chOff x="700000" y="1900000"/>
            <a:chExt cx="10300000" cy="900000"/>
          </a:xfrm>
        </p:grpSpPr>
        <p:sp>
          <p:nvSpPr>
            <p:cNvPr id="4" name="受注入力"/>
            <p:cNvSpPr>
              <a:spLocks noGrp="1"/>
            </p:cNvSpPr>
            <p:nvPr/>
          </p:nvSpPr>
          <p:spPr>
            <a:xfrm>
              <a:off x="700000" y="19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受注入力</a:t>
              </a:r>
              <a:br/>
              <a:r>
                <a:rPr lang="ja-JP"/>
                <a:t>（Web／代行）</a:t>
              </a:r>
            </a:p>
          </p:txBody>
        </p:sp>
        <p:sp>
          <p:nvSpPr>
            <p:cNvPr id="5" name="与信照会"/>
            <p:cNvSpPr>
              <a:spLocks noGrp="1"/>
            </p:cNvSpPr>
            <p:nvPr/>
          </p:nvSpPr>
          <p:spPr>
            <a:xfrm>
              <a:off x="3400000" y="19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与信照会</a:t>
              </a:r>
            </a:p>
          </p:txBody>
        </p:sp>
        <p:sp>
          <p:nvSpPr>
            <p:cNvPr id="6" name="在庫引当"/>
            <p:cNvSpPr>
              <a:spLocks noGrp="1"/>
            </p:cNvSpPr>
            <p:nvPr/>
          </p:nvSpPr>
          <p:spPr>
            <a:xfrm>
              <a:off x="6100000" y="19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在庫引当</a:t>
              </a:r>
            </a:p>
          </p:txBody>
        </p:sp>
        <p:sp>
          <p:nvSpPr>
            <p:cNvPr id="7" name="出荷指示"/>
            <p:cNvSpPr>
              <a:spLocks noGrp="1"/>
            </p:cNvSpPr>
            <p:nvPr/>
          </p:nvSpPr>
          <p:spPr>
            <a:xfrm>
              <a:off x="8800000" y="19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出荷指示</a:t>
              </a:r>
            </a:p>
          </p:txBody>
        </p:sp>
      </p:grpSp>
      <p:grpSp>
        <p:nvGrpSpPr>
          <p:cNvPr id="8" name="バッチ系" descr="夜間バッチ。実行順は運用設計書 4.2 による"/>
          <p:cNvGrpSpPr/>
          <p:nvPr/>
        </p:nvGrpSpPr>
        <p:grpSpPr>
          <a:xfrm>
            <a:off x="700000" y="3500000"/>
            <a:ext cx="10300000" cy="900000"/>
            <a:chOff x="700000" y="3500000"/>
            <a:chExt cx="10300000" cy="900000"/>
          </a:xfrm>
        </p:grpSpPr>
        <p:sp>
          <p:nvSpPr>
            <p:cNvPr id="9" name="売上計上"/>
            <p:cNvSpPr>
              <a:spLocks noGrp="1"/>
            </p:cNvSpPr>
            <p:nvPr/>
          </p:nvSpPr>
          <p:spPr>
            <a:xfrm>
              <a:off x="700000" y="35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売上計上</a:t>
              </a:r>
            </a:p>
          </p:txBody>
        </p:sp>
        <p:sp>
          <p:nvSpPr>
            <p:cNvPr id="10" name="請求締め"/>
            <p:cNvSpPr>
              <a:spLocks noGrp="1"/>
            </p:cNvSpPr>
            <p:nvPr/>
          </p:nvSpPr>
          <p:spPr>
            <a:xfrm>
              <a:off x="3400000" y="35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請求締め</a:t>
              </a:r>
              <a:br/>
              <a:r>
                <a:rPr lang="ja-JP"/>
                <a:t>（月次）</a:t>
              </a:r>
            </a:p>
          </p:txBody>
        </p:sp>
        <p:sp>
          <p:nvSpPr>
            <p:cNvPr id="11" name="会計連携"/>
            <p:cNvSpPr>
              <a:spLocks noGrp="1"/>
            </p:cNvSpPr>
            <p:nvPr/>
          </p:nvSpPr>
          <p:spPr>
            <a:xfrm>
              <a:off x="6100000" y="35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会計連携</a:t>
              </a:r>
            </a:p>
          </p:txBody>
        </p:sp>
        <p:sp>
          <p:nvSpPr>
            <p:cNvPr id="12" name="帳票出力"/>
            <p:cNvSpPr>
              <a:spLocks noGrp="1"/>
            </p:cNvSpPr>
            <p:nvPr/>
          </p:nvSpPr>
          <p:spPr>
            <a:xfrm>
              <a:off x="8800000" y="35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帳票出力</a:t>
              </a:r>
            </a:p>
          </p:txBody>
        </p:sp>
      </p:grpSp>
      <p:grpSp>
        <p:nvGrpSpPr>
          <p:cNvPr id="13" name="外部接続"/>
          <p:cNvGrpSpPr/>
          <p:nvPr/>
        </p:nvGrpSpPr>
        <p:grpSpPr>
          <a:xfrm>
            <a:off x="700000" y="5100000"/>
            <a:ext cx="10300000" cy="900000"/>
            <a:chOff x="700000" y="5100000"/>
            <a:chExt cx="10300000" cy="900000"/>
          </a:xfrm>
        </p:grpSpPr>
        <p:sp>
          <p:nvSpPr>
            <p:cNvPr id="14" name="得意先EDI"/>
            <p:cNvSpPr>
              <a:spLocks noGrp="1"/>
            </p:cNvSpPr>
            <p:nvPr/>
          </p:nvSpPr>
          <p:spPr>
            <a:xfrm>
              <a:off x="700000" y="51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得意先 EDI</a:t>
              </a:r>
              <a:br/>
              <a:r>
                <a:rPr lang="ja-JP"/>
                <a:t>（全銀手順）</a:t>
              </a:r>
            </a:p>
          </p:txBody>
        </p:sp>
        <p:sp>
          <p:nvSpPr>
            <p:cNvPr id="15" name="物流センター"/>
            <p:cNvSpPr>
              <a:spLocks noGrp="1"/>
            </p:cNvSpPr>
            <p:nvPr/>
          </p:nvSpPr>
          <p:spPr>
            <a:xfrm>
              <a:off x="3400000" y="51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物流センター</a:t>
              </a:r>
            </a:p>
          </p:txBody>
        </p:sp>
        <p:sp>
          <p:nvSpPr>
            <p:cNvPr id="16" name="銀行伝送"/>
            <p:cNvSpPr>
              <a:spLocks noGrp="1"/>
            </p:cNvSpPr>
            <p:nvPr/>
          </p:nvSpPr>
          <p:spPr>
            <a:xfrm>
              <a:off x="6100000" y="51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銀行ファイル伝送</a:t>
              </a:r>
            </a:p>
          </p:txBody>
        </p:sp>
        <p:sp>
          <p:nvSpPr>
            <p:cNvPr id="17" name="会計パッケージ"/>
            <p:cNvSpPr>
              <a:spLocks noGrp="1"/>
            </p:cNvSpPr>
            <p:nvPr/>
          </p:nvSpPr>
          <p:spPr>
            <a:xfrm>
              <a:off x="8800000" y="51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会計パッケージ</a:t>
              </a:r>
            </a:p>
          </p:txBody>
        </p:sp>
      </p:grpSp>
      <p:cxnSp>
        <p:nvCxnSpPr>
          <p:cNvPr id="18" name="受注データ"/>
          <p:cNvCxnSpPr>
            <a:stCxn id="14" idx="3"/>
            <a:endCxn id="4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19" name="同期"/>
          <p:cNvCxnSpPr>
            <a:stCxn id="4" idx="3"/>
            <a:endCxn id="5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20" name="同期"/>
          <p:cNvCxnSpPr>
            <a:stCxn id="5" idx="3"/>
            <a:endCxn id="6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21" name="同期"/>
          <p:cNvCxnSpPr>
            <a:stCxn id="6" idx="3"/>
            <a:endCxn id="7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22" name="出荷指示データ"/>
          <p:cNvCxnSpPr>
            <a:stCxn id="7" idx="3"/>
            <a:endCxn id="15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23" name="夜間バッチ"/>
          <p:cNvCxnSpPr>
            <a:stCxn id="7" idx="3"/>
            <a:endCxn id="9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24" name="月次"/>
          <p:cNvCxnSpPr>
            <a:stCxn id="9" idx="3"/>
            <a:endCxn id="10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25" name="月次"/>
          <p:cNvCxnSpPr>
            <a:stCxn id="10" idx="3"/>
            <a:endCxn id="11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26" name="口座振替"/>
          <p:cNvCxnSpPr>
            <a:stCxn id="10" idx="3"/>
            <a:endCxn id="16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27" name="仕訳連携"/>
          <p:cNvCxnSpPr>
            <a:stCxn id="11" idx="3"/>
            <a:endCxn id="17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28" name="凡例の矢印"/>
          <p:cNvCxnSpPr/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現行の受注入力画面（ハードコピー）</a:t>
            </a:r>
          </a:p>
        </p:txBody>
      </p:sp>
      <p:pic>
        <p:nvPicPr>
          <p:cNvPr id="3" name="現行画面" descr="現行の受注入力画面。項目名は別紙 2 の項目定義書による"/>
          <p:cNvPicPr>
            <a:picLocks noChangeAspect="1"/>
          </p:cNvPicPr>
          <p:nvPr/>
        </p:nvPicPr>
        <p:blipFill>
          <a:blip r:embed="rIdImg5_1"/>
          <a:stretch>
            <a:fillRect/>
          </a:stretch>
        </p:blipFill>
        <p:spPr>
          <a:xfrm>
            <a:off x="700000" y="1900000"/>
            <a:ext cx="2200000" cy="900000"/>
          </a:xfrm>
          <a:prstGeom prst="rect">
            <a:avLst/>
          </a:prstGeom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フェーズ計画と主要マイルストーン</a:t>
            </a:r>
          </a:p>
        </p:txBody>
      </p:sp>
      <p:graphicFrame>
        <p:nvGraphicFramePr>
          <p:cNvPr id="3" name="表 3"/>
          <p:cNvGraphicFramePr/>
          <p:nvPr/>
        </p:nvGraphicFramePr>
        <p:xfrm>
          <a:off x="700000" y="1900000"/>
          <a:ext cx="10792000" cy="2960000"/>
        </p:xfrm>
        <a:graphic>
          <a:graphicData uri="http://schemas.openxmlformats.org/drawingml/2006/table">
            <a:tbl>
              <a:tblPr/>
              <a:tblGrid>
                <a:gridCol w="2158400"/>
                <a:gridCol w="2158400"/>
                <a:gridCol w="2158400"/>
                <a:gridCol w="2158400"/>
                <a:gridCol w="2158400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フェーズ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工程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期間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主要成果物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判定会議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第 1 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要件定義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2026-09〜2026-11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要件定義書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要件確定会議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基本設計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2026-12〜2027-02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基本設計書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基本設計完了判定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詳細設計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2027-03〜2027-05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詳細設計書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第 2 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製造・単体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2027-06〜2027-10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単体試験報告書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結合試験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2027-11〜2028-01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結合試験報告書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結合試験完了判定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総合試験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2028-02〜2028-04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総合試験報告書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移行判定会議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第 3 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移行・稼働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2028-05〜2028-06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移行手順書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稼働判定会議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移行方式の比較</a:t>
            </a:r>
          </a:p>
        </p:txBody>
      </p:sp>
      <p:graphicFrame>
        <p:nvGraphicFramePr>
          <p:cNvPr id="3" name="表 3"/>
          <p:cNvGraphicFramePr/>
          <p:nvPr/>
        </p:nvGraphicFramePr>
        <p:xfrm>
          <a:off x="700000" y="1900000"/>
          <a:ext cx="10792000" cy="1480000"/>
        </p:xfrm>
        <a:graphic>
          <a:graphicData uri="http://schemas.openxmlformats.org/drawingml/2006/table">
            <a:tbl>
              <a:tblPr/>
              <a:tblGrid>
                <a:gridCol w="2158400"/>
                <a:gridCol w="2158400"/>
                <a:gridCol w="2158400"/>
                <a:gridCol w="2158400"/>
                <a:gridCol w="2158400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停止時間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切戻し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費用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評価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一括移行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48 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可（12 時間）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△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段階移行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4 時間 × 3 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可（2 時間）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○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並行稼働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0 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△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本提案の対象外（やらないこと）</a:t>
            </a:r>
          </a:p>
        </p:txBody>
      </p:sp>
      <p:sp>
        <p:nvSpPr>
          <p:cNvPr id="3" name="対象外"/>
          <p:cNvSpPr>
            <a:spLocks noGrp="1"/>
          </p:cNvSpPr>
          <p:nvPr/>
        </p:nvSpPr>
        <p:spPr>
          <a:xfrm>
            <a:off x="7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・帳票のレイアウト変更（現行踏襲とする）</a:t>
            </a:r>
            <a:br/>
            <a:r>
              <a:rPr lang="ja-JP"/>
              <a:t>・会計パッケージ側の改修</a:t>
            </a:r>
            <a:br/>
            <a:r>
              <a:rPr lang="ja-JP"/>
              <a:t>・得意先マスタの名寄せ（別プロジェクト）</a:t>
            </a:r>
            <a:br/>
            <a:r>
              <a:rPr lang="ja-JP"/>
              <a:t>・モバイル対応（次期以降）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利用者と権限</a:t>
            </a:r>
          </a:p>
        </p:txBody>
      </p:sp>
      <p:graphicFrame>
        <p:nvGraphicFramePr>
          <p:cNvPr id="3" name="表 3"/>
          <p:cNvGraphicFramePr/>
          <p:nvPr/>
        </p:nvGraphicFramePr>
        <p:xfrm>
          <a:off x="700000" y="1900000"/>
          <a:ext cx="10792000" cy="2590000"/>
        </p:xfrm>
        <a:graphic>
          <a:graphicData uri="http://schemas.openxmlformats.org/drawingml/2006/table">
            <a:tbl>
              <a:tblPr/>
              <a:tblGrid>
                <a:gridCol w="1798666"/>
                <a:gridCol w="1798666"/>
                <a:gridCol w="1798666"/>
                <a:gridCol w="1798666"/>
                <a:gridCol w="1798666"/>
                <a:gridCol w="1798666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区分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ロール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受注登録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与信照会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出荷指示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承認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営業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営業担当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C／R／U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営業部長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○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営業事務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与信管理課長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C／R／U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○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物流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出荷担当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C／U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システム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運用担当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コード体系と採番規則</a:t>
            </a:r>
          </a:p>
        </p:txBody>
      </p:sp>
      <p:graphicFrame>
        <p:nvGraphicFramePr>
          <p:cNvPr id="3" name="表 3"/>
          <p:cNvGraphicFramePr/>
          <p:nvPr/>
        </p:nvGraphicFramePr>
        <p:xfrm>
          <a:off x="700000" y="1900000"/>
          <a:ext cx="10792000" cy="2220000"/>
        </p:xfrm>
        <a:graphic>
          <a:graphicData uri="http://schemas.openxmlformats.org/drawingml/2006/table">
            <a:tbl>
              <a:tblPr/>
              <a:tblGrid>
                <a:gridCol w="2698000"/>
                <a:gridCol w="2698000"/>
                <a:gridCol w="2698000"/>
                <a:gridCol w="2698000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区分コード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区分名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説明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遷移先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受注を受け付けた状態。与信も在庫引当も未実施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02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与信中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与信照会を投げた状態（結果待ち）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03／09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確定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与信 OK、在庫引当済み。取消には承認が要る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04／09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出荷済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出荷指示を発行した状態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取消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赤伝で取り消した状態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―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表 4"/>
          <p:cNvGraphicFramePr/>
          <p:nvPr/>
        </p:nvGraphicFramePr>
        <p:xfrm>
          <a:off x="700000" y="4420000"/>
          <a:ext cx="10792000" cy="1110000"/>
        </p:xfrm>
        <a:graphic>
          <a:graphicData uri="http://schemas.openxmlformats.org/drawingml/2006/table">
            <a:tbl>
              <a:tblPr/>
              <a:tblGrid>
                <a:gridCol w="2698000"/>
                <a:gridCol w="2698000"/>
                <a:gridCol w="2698000"/>
                <a:gridCol w="2698000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採番規則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採番元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受注番号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ORD + 年下 2 桁 + 通番 5 桁（例 ORD2600001）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採番テーブル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得意先コード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C + 通番 4 桁（前ゼロを残す）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手採番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新システムのゾーン構成（サブゾーン入り）</a:t>
            </a:r>
          </a:p>
        </p:txBody>
      </p:sp>
      <p:grpSp>
        <p:nvGrpSpPr>
          <p:cNvPr id="3" name="新オンライン系" descr="現用／待機の 2 系統。DR サイトへは非同期複製"/>
          <p:cNvGrpSpPr/>
          <p:nvPr/>
        </p:nvGrpSpPr>
        <p:grpSpPr>
          <a:xfrm>
            <a:off x="700000" y="1900000"/>
            <a:ext cx="7600000" cy="900000"/>
            <a:chOff x="700000" y="1900000"/>
            <a:chExt cx="7600000" cy="900000"/>
          </a:xfrm>
        </p:grpSpPr>
        <p:sp>
          <p:nvSpPr>
            <p:cNvPr id="4" name="新受注入力"/>
            <p:cNvSpPr>
              <a:spLocks noGrp="1"/>
            </p:cNvSpPr>
            <p:nvPr/>
          </p:nvSpPr>
          <p:spPr>
            <a:xfrm>
              <a:off x="700000" y="19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受注入力</a:t>
              </a:r>
              <a:br/>
              <a:r>
                <a:rPr lang="ja-JP"/>
                <a:t>（Web）</a:t>
              </a:r>
            </a:p>
          </p:txBody>
        </p:sp>
        <p:sp>
          <p:nvSpPr>
            <p:cNvPr id="5" name="新与信照会"/>
            <p:cNvSpPr>
              <a:spLocks noGrp="1"/>
            </p:cNvSpPr>
            <p:nvPr/>
          </p:nvSpPr>
          <p:spPr>
            <a:xfrm>
              <a:off x="3400000" y="19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与信照会 API</a:t>
              </a:r>
            </a:p>
          </p:txBody>
        </p:sp>
        <p:sp>
          <p:nvSpPr>
            <p:cNvPr id="6" name="新在庫引当"/>
            <p:cNvSpPr>
              <a:spLocks noGrp="1"/>
            </p:cNvSpPr>
            <p:nvPr/>
          </p:nvSpPr>
          <p:spPr>
            <a:xfrm>
              <a:off x="6100000" y="1900000"/>
              <a:ext cx="2200000" cy="900000"/>
            </a:xfrm>
            <a:prstGeom prst="rect">
              <a:avLst/>
            </a:prstGeom>
          </p:spPr>
          <p:txBody>
            <a:bodyPr/>
            <a:lstStyle/>
            <a:p>
              <a:r>
                <a:rPr lang="ja-JP"/>
                <a:t>在庫引当</a:t>
              </a:r>
            </a:p>
          </p:txBody>
        </p:sp>
      </p:grpSp>
      <p:grpSp>
        <p:nvGrpSpPr>
          <p:cNvPr id="7" name="新バッチ系" descr="実行順は運用設計書 4.2 による。日次と月次で実行基盤が違う"/>
          <p:cNvGrpSpPr/>
          <p:nvPr/>
        </p:nvGrpSpPr>
        <p:grpSpPr>
          <a:xfrm>
            <a:off x="700000" y="1900000"/>
            <a:ext cx="10300000" cy="2500000"/>
            <a:chOff x="700000" y="1900000"/>
            <a:chExt cx="10300000" cy="2500000"/>
          </a:xfrm>
        </p:grpSpPr>
        <p:grpSp>
          <p:nvGrpSpPr>
            <p:cNvPr id="8" name="日次バッチ"/>
            <p:cNvGrpSpPr/>
            <p:nvPr/>
          </p:nvGrpSpPr>
          <p:grpSpPr>
            <a:xfrm>
              <a:off x="700000" y="1900000"/>
              <a:ext cx="10300000" cy="2500000"/>
              <a:chOff x="700000" y="1900000"/>
              <a:chExt cx="10300000" cy="2500000"/>
            </a:xfrm>
          </p:grpSpPr>
          <p:sp>
            <p:nvSpPr>
              <p:cNvPr id="9" name="売上計上B"/>
              <p:cNvSpPr>
                <a:spLocks noGrp="1"/>
              </p:cNvSpPr>
              <p:nvPr/>
            </p:nvSpPr>
            <p:spPr>
              <a:xfrm>
                <a:off x="8800000" y="1900000"/>
                <a:ext cx="2200000" cy="9000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lang="ja-JP"/>
                  <a:t>売上計上</a:t>
                </a:r>
              </a:p>
            </p:txBody>
          </p:sp>
          <p:sp>
            <p:nvSpPr>
              <p:cNvPr id="10" name="在庫締めB"/>
              <p:cNvSpPr>
                <a:spLocks noGrp="1"/>
              </p:cNvSpPr>
              <p:nvPr/>
            </p:nvSpPr>
            <p:spPr>
              <a:xfrm>
                <a:off x="700000" y="3500000"/>
                <a:ext cx="2200000" cy="9000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lang="ja-JP"/>
                  <a:t>在庫締め</a:t>
                </a:r>
              </a:p>
            </p:txBody>
          </p:sp>
        </p:grpSp>
        <p:grpSp>
          <p:nvGrpSpPr>
            <p:cNvPr id="11" name="月次バッチ"/>
            <p:cNvGrpSpPr/>
            <p:nvPr/>
          </p:nvGrpSpPr>
          <p:grpSpPr>
            <a:xfrm>
              <a:off x="3400000" y="3500000"/>
              <a:ext cx="4900000" cy="900000"/>
              <a:chOff x="3400000" y="3500000"/>
              <a:chExt cx="4900000" cy="900000"/>
            </a:xfrm>
          </p:grpSpPr>
          <p:sp>
            <p:nvSpPr>
              <p:cNvPr id="12" name="請求締めB"/>
              <p:cNvSpPr>
                <a:spLocks noGrp="1"/>
              </p:cNvSpPr>
              <p:nvPr/>
            </p:nvSpPr>
            <p:spPr>
              <a:xfrm>
                <a:off x="3400000" y="3500000"/>
                <a:ext cx="2200000" cy="9000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lang="ja-JP"/>
                  <a:t>請求締め</a:t>
                </a:r>
                <a:br/>
                <a:r>
                  <a:rPr lang="ja-JP"/>
                  <a:t>（月次）</a:t>
                </a:r>
              </a:p>
            </p:txBody>
          </p:sp>
          <p:sp>
            <p:nvSpPr>
              <p:cNvPr id="13" name="会計連携B"/>
              <p:cNvSpPr>
                <a:spLocks noGrp="1"/>
              </p:cNvSpPr>
              <p:nvPr/>
            </p:nvSpPr>
            <p:spPr>
              <a:xfrm>
                <a:off x="6100000" y="3500000"/>
                <a:ext cx="2200000" cy="9000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lang="ja-JP"/>
                  <a:t>会計連携</a:t>
                </a:r>
              </a:p>
            </p:txBody>
          </p:sp>
        </p:grpSp>
      </p:grpSp>
      <p:cxnSp>
        <p:nvCxnSpPr>
          <p:cNvPr id="14" name="同期"/>
          <p:cNvCxnSpPr>
            <a:stCxn id="4" idx="3"/>
            <a:endCxn id="5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15" name="同期"/>
          <p:cNvCxnSpPr>
            <a:stCxn id="5" idx="3"/>
            <a:endCxn id="6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16" name="夜間バッチ"/>
          <p:cNvCxnSpPr>
            <a:stCxn id="6" idx="3"/>
            <a:endCxn id="9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17" name="夜間バッチ"/>
          <p:cNvCxnSpPr>
            <a:stCxn id="9" idx="3"/>
            <a:endCxn id="10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18" name="月次"/>
          <p:cNvCxnSpPr>
            <a:stCxn id="10" idx="3"/>
            <a:endCxn id="12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Dot"/>
            <a:headEnd type="none"/>
            <a:tailEnd type="triangle"/>
          </a:ln>
        </p:spPr>
      </p:cxnSp>
      <p:cxnSp>
        <p:nvCxnSpPr>
          <p:cNvPr id="19" name="月次"/>
          <p:cNvCxnSpPr>
            <a:stCxn id="12" idx="3"/>
            <a:endCxn id="13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Dot"/>
            <a:headEnd type="none"/>
            <a:tailEnd type="triangle"/>
          </a:ln>
        </p:spPr>
      </p:cxn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非機能要件の目標値</a:t>
            </a:r>
          </a:p>
        </p:txBody>
      </p:sp>
      <p:graphicFrame>
        <p:nvGraphicFramePr>
          <p:cNvPr id="3" name="表 3"/>
          <p:cNvGraphicFramePr/>
          <p:nvPr/>
        </p:nvGraphicFramePr>
        <p:xfrm>
          <a:off x="700000" y="1900000"/>
          <a:ext cx="10792000" cy="2220000"/>
        </p:xfrm>
        <a:graphic>
          <a:graphicData uri="http://schemas.openxmlformats.org/drawingml/2006/table">
            <a:tbl>
              <a:tblPr/>
              <a:tblGrid>
                <a:gridCol w="1541714"/>
                <a:gridCol w="1541714"/>
                <a:gridCol w="1541714"/>
                <a:gridCol w="1541714"/>
                <a:gridCol w="1541714"/>
                <a:gridCol w="1541714"/>
                <a:gridCol w="1541714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区分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現行実測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目標値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測定条件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未達時の扱い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性能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受注登録の応答時間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5.2 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3 秒以内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同時 50 セッションの 90 パーセンタイル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稼働判定会議で決定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日次バッチの処理時間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6 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4 時間以内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000 件／日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同上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月次バッチの処理時間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8 時間以内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 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000 件／月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同上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可用性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稼働率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99.5% 以上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計画停止を除く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是正計画を提出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目標復旧時間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4 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DR サイトへの切替を含む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同上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全体構成（B 案・旧版）</a:t>
            </a:r>
          </a:p>
        </p:txBody>
      </p:sp>
      <p:sp>
        <p:nvSpPr>
          <p:cNvPr id="3" name="現行維持"/>
          <p:cNvSpPr>
            <a:spLocks noGrp="1"/>
          </p:cNvSpPr>
          <p:nvPr/>
        </p:nvSpPr>
        <p:spPr>
          <a:xfrm>
            <a:off x="7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現行を延命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sld>
</file>

<file path=ppt/theme/theme1.xml><?xml version="1.0" encoding="utf-8"?>
<a:theme xmlns:a="http://schemas.openxmlformats.org/drawingml/2006/main" name="arp4 検体">
  <a:themeElements>
    <a:clrScheme name="arp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p4">
      <a:majorFont>
        <a:latin typeface="Yu Gothic"/>
        <a:ea typeface="Yu Gothic"/>
        <a:cs typeface=""/>
      </a:majorFont>
      <a:minorFont>
        <a:latin typeface="Yu Gothic"/>
        <a:ea typeface="Yu Gothic"/>
        <a:cs typeface=""/>
      </a:minorFont>
    </a:fontScheme>
    <a:fmtScheme name="arp4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arp4 検体 ノート">
  <a:themeElements>
    <a:clrScheme name="arp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p4">
      <a:majorFont>
        <a:latin typeface="Yu Gothic"/>
        <a:ea typeface="Yu Gothic"/>
        <a:cs typeface=""/>
      </a:majorFont>
      <a:minorFont>
        <a:latin typeface="Yu Gothic"/>
        <a:ea typeface="Yu Gothic"/>
        <a:cs typeface=""/>
      </a:minorFont>
    </a:fontScheme>
    <a:fmtScheme name="arp4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creator>販売管理システム更改PT</dc:creator>
  <cp:lastModifiedBy>佐藤（アーキテクト）</cp:lastModifiedBy>
</cp:coreProperties>
</file>