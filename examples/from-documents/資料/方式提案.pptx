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comments/comment3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9144000"/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鈴木（PMO）" initials="" lastIdx="1" clrIdx="0"/>
</p:cmAuthorLst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Theme" Type="http://schemas.openxmlformats.org/officeDocument/2006/relationships/theme" Target="theme/theme1.xml"/><Relationship Id="rIdAuthors" Type="http://schemas.openxmlformats.org/officeDocument/2006/relationships/commentAuthors" Target="commentAuthors.xml"/></Relationships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30T10:00:00Z" idx="1">
    <p:pos x="100" y="100"/>
    <p:text>常駐は 2 名に減りました（2026-07 の体制変更）。図は 3 名のままです</p:text>
  </p:cm>
</p:cmLst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スライド番号 プレースホルダー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r>
              <a:rPr lang="ja-JP"/>
              <a:t>1</a:t>
            </a:r>
          </a:p>
        </p:txBody>
      </p:sp>
      <p:sp>
        <p:nvSpPr>
          <p:cNvPr id="3" name="ノート プレースホルダー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/>
              <a:t>A 案にしたのは B 社の保守期限が 2027-03 で切れるためで、</a:t>
            </a:r>
          </a:p>
          <a:p>
            <a:r>
              <a:rPr lang="ja-JP"/>
              <a:t>性能や機能で選んだわけではない。</a:t>
            </a:r>
          </a:p>
          <a:p>
            <a:r>
              <a:rPr lang="ja-JP"/>
              <a:t/>
            </a:r>
          </a:p>
          <a:p>
            <a:r>
              <a:rPr lang="ja-JP"/>
              <a:t>B 案（現行の延命）は 2028-03 まで持つが、その時点で</a:t>
            </a:r>
          </a:p>
          <a:p>
            <a:r>
              <a:rPr lang="ja-JP"/>
              <a:t>同じ検討をもう一度やることになるので採らなかった。</a:t>
            </a:r>
          </a:p>
        </p:txBody>
      </p:sp>
    </p:spTree>
  </p:cSld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全体構成（A 案）</a:t>
            </a:r>
          </a:p>
        </p:txBody>
      </p:sp>
      <p:sp>
        <p:nvSpPr>
          <p:cNvPr id="3" name="受注入力" descr="現用／待機の 2 系統。DR は別紙 5"/>
          <p:cNvSpPr>
            <a:spLocks noGrp="1"/>
          </p:cNvSpPr>
          <p:nvPr/>
        </p:nvSpPr>
        <p:spPr>
          <a:xfrm>
            <a:off x="7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オーダー入力</a:t>
            </a:r>
            <a:br/>
            <a:r>
              <a:rPr lang="ja-JP"/>
              <a:t>（Web／代行）</a:t>
            </a:r>
          </a:p>
        </p:txBody>
      </p:sp>
      <p:sp>
        <p:nvSpPr>
          <p:cNvPr id="4" name="与信判定"/>
          <p:cNvSpPr>
            <a:spLocks noGrp="1"/>
          </p:cNvSpPr>
          <p:nvPr/>
        </p:nvSpPr>
        <p:spPr>
          <a:xfrm>
            <a:off x="34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与信の枠内？</a:t>
            </a:r>
          </a:p>
        </p:txBody>
      </p:sp>
      <p:sp>
        <p:nvSpPr>
          <p:cNvPr id="5" name="在庫引当"/>
          <p:cNvSpPr>
            <a:spLocks noGrp="1"/>
          </p:cNvSpPr>
          <p:nvPr/>
        </p:nvSpPr>
        <p:spPr>
          <a:xfrm>
            <a:off x="61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在庫引当</a:t>
            </a:r>
          </a:p>
        </p:txBody>
      </p:sp>
      <p:sp>
        <p:nvSpPr>
          <p:cNvPr id="6" name="出荷指示"/>
          <p:cNvSpPr>
            <a:spLocks noGrp="1"/>
          </p:cNvSpPr>
          <p:nvPr/>
        </p:nvSpPr>
        <p:spPr>
          <a:xfrm>
            <a:off x="88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出荷指示</a:t>
            </a:r>
          </a:p>
        </p:txBody>
      </p:sp>
      <p:cxnSp>
        <p:nvCxnSpPr>
          <p:cNvPr id="7" name="同期"/>
          <p:cNvCxnSpPr>
            <a:stCxn id="3" idx="3"/>
            <a:endCxn id="4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8" name="夜間バッチ"/>
          <p:cNvCxnSpPr>
            <a:stCxn id="4" idx="3"/>
            <a:endCxn id="5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"/>
            <a:headEnd type="none"/>
            <a:tailEnd type="triangle"/>
          </a:ln>
        </p:spPr>
      </p:cxnSp>
      <p:cxnSp>
        <p:nvCxnSpPr>
          <p:cNvPr id="9" name="同期"/>
          <p:cNvCxnSpPr>
            <a:stCxn id="5" idx="3"/>
            <a:endCxn id="6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10" name="補足の矢印"/>
          <p:cNvCxnSpPr/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移行対象と件数</a:t>
            </a:r>
          </a:p>
        </p:txBody>
      </p:sp>
      <p:graphicFrame>
        <p:nvGraphicFramePr>
          <p:cNvPr id="3" name="表 3"/>
          <p:cNvGraphicFramePr/>
          <p:nvPr/>
        </p:nvGraphicFramePr>
        <p:xfrm>
          <a:off x="700000" y="1900000"/>
          <a:ext cx="10792000" cy="1480000"/>
        </p:xfrm>
        <a:graphic>
          <a:graphicData uri="http://schemas.openxmlformats.org/drawingml/2006/main/table">
            <a:tbl>
              <a:tblPr/>
              <a:tblGrid>
                <a:gridCol w="2698000"/>
                <a:gridCol w="2698000"/>
                <a:gridCol w="2698000"/>
                <a:gridCol w="2698000"/>
              </a:tblGrid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区分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論理名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件数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受注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T_ORDER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受注ヘッダ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120000</a:t>
                      </a:r>
                    </a:p>
                  </a:txBody>
                  <a:tcPr/>
                </a:tc>
              </a:tr>
              <a:tr h="370000">
                <a:tc vMerge="1">
                  <a:txBody>
                    <a:bodyPr/>
                    <a:lstStyle/>
                    <a:p>
                      <a:r>
                        <a:rPr lang="ja-JP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T_ORDER_D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受注明細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480000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rPr lang="ja-JP"/>
                        <a:t>マスタ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M_CUSTOMER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得意先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/>
                        <a:t>3200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体制と役割分担</a:t>
            </a:r>
          </a:p>
        </p:txBody>
      </p:sp>
      <p:sp>
        <p:nvSpPr>
          <p:cNvPr id="3" name="発注者"/>
          <p:cNvSpPr>
            <a:spLocks noGrp="1"/>
          </p:cNvSpPr>
          <p:nvPr/>
        </p:nvSpPr>
        <p:spPr>
          <a:xfrm>
            <a:off x="7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発注者（情報システム部）</a:t>
            </a:r>
          </a:p>
        </p:txBody>
      </p:sp>
      <p:sp>
        <p:nvSpPr>
          <p:cNvPr id="4" name="元請"/>
          <p:cNvSpPr>
            <a:spLocks noGrp="1"/>
          </p:cNvSpPr>
          <p:nvPr/>
        </p:nvSpPr>
        <p:spPr>
          <a:xfrm>
            <a:off x="34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元請</a:t>
            </a:r>
            <a:br/>
            <a:r>
              <a:rPr lang="ja-JP"/>
              <a:t>常駐 3 名</a:t>
            </a:r>
          </a:p>
        </p:txBody>
      </p:sp>
      <p:sp>
        <p:nvSpPr>
          <p:cNvPr id="5" name="協力会社"/>
          <p:cNvSpPr>
            <a:spLocks noGrp="1"/>
          </p:cNvSpPr>
          <p:nvPr/>
        </p:nvSpPr>
        <p:spPr>
          <a:xfrm>
            <a:off x="61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協力会社（帳票）</a:t>
            </a:r>
          </a:p>
        </p:txBody>
      </p:sp>
      <p:cxnSp>
        <p:nvCxnSpPr>
          <p:cNvPr id="6" name="委託"/>
          <p:cNvCxnSpPr>
            <a:stCxn id="3" idx="3"/>
            <a:endCxn id="4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solid"/>
            <a:headEnd type="none"/>
            <a:tailEnd type="triangle"/>
          </a:ln>
        </p:spPr>
      </p:cxnSp>
      <p:cxnSp>
        <p:nvCxnSpPr>
          <p:cNvPr id="7" name="再委託"/>
          <p:cNvCxnSpPr>
            <a:stCxn id="4" idx="3"/>
            <a:endCxn id="5" idx="1"/>
          </p:cNvCxnSpPr>
          <p:nvPr/>
        </p:nvCxnSpPr>
        <p:spPr>
          <a:xfrm>
            <a:off x="700000" y="1900000"/>
            <a:ext cx="2200000" cy="0"/>
          </a:xfrm>
          <a:prstGeom prst="straightConnector1">
            <a:avLst/>
          </a:prstGeom>
          <a:ln w="12700">
            <a:prstDash val="dash"/>
            <a:headEnd type="none"/>
            <a:tailEnd type="triangle"/>
          </a:ln>
        </p:spPr>
      </p:cxn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0000" y="500000"/>
            <a:ext cx="10792000" cy="10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全体構成（B 案・旧版）</a:t>
            </a:r>
          </a:p>
        </p:txBody>
      </p:sp>
      <p:sp>
        <p:nvSpPr>
          <p:cNvPr id="3" name="現行維持"/>
          <p:cNvSpPr>
            <a:spLocks noGrp="1"/>
          </p:cNvSpPr>
          <p:nvPr/>
        </p:nvSpPr>
        <p:spPr>
          <a:xfrm>
            <a:off x="700000" y="1900000"/>
            <a:ext cx="2200000" cy="900000"/>
          </a:xfrm>
          <a:prstGeom prst="rect">
            <a:avLst/>
          </a:prstGeom>
        </p:spPr>
        <p:txBody>
          <a:bodyPr/>
          <a:lstStyle/>
          <a:p>
            <a:r>
              <a:rPr lang="ja-JP"/>
              <a:t>現行を延命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</p:sld>
</file>

<file path=ppt/theme/theme1.xml><?xml version="1.0" encoding="utf-8"?>
<a:theme xmlns:a="http://schemas.openxmlformats.org/drawingml/2006/main" name="arp4 検体">
  <a:themeElements>
    <a:clrScheme name="arp4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p4">
      <a:majorFont>
        <a:latin typeface="Yu Gothic"/>
        <a:ea typeface="Yu Gothic"/>
        <a:cs typeface=""/>
      </a:majorFont>
      <a:minorFont>
        <a:latin typeface="Yu Gothic"/>
        <a:ea typeface="Yu Gothic"/>
        <a:cs typeface=""/>
      </a:minorFont>
    </a:fontScheme>
    <a:fmtScheme name="arp4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creator>販売管理システム更改PT</dc:creator>
  <cp:lastModifiedBy>佐藤（アーキテクト）</cp:lastModifiedBy>
</cp:coreProperties>
</file>